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5" r:id="rId2"/>
    <p:sldId id="266"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65"/>
            <p14:sldId id="266"/>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5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shyant Ravi" userId="84d5bb735f0b42ef" providerId="LiveId" clId="{70780C24-7925-4EDA-A6CC-EE42E1CDECF5}"/>
    <pc:docChg chg="undo custSel delSld modSld modSection">
      <pc:chgData name="Dushyant Ravi" userId="84d5bb735f0b42ef" providerId="LiveId" clId="{70780C24-7925-4EDA-A6CC-EE42E1CDECF5}" dt="2026-10-09T17:12:01.865" v="571" actId="47"/>
      <pc:docMkLst>
        <pc:docMk/>
      </pc:docMkLst>
      <pc:sldChg chg="addSp delSp modSp mod">
        <pc:chgData name="Dushyant Ravi" userId="84d5bb735f0b42ef" providerId="LiveId" clId="{70780C24-7925-4EDA-A6CC-EE42E1CDECF5}" dt="2026-10-09T16:43:58.560" v="351" actId="1076"/>
        <pc:sldMkLst>
          <pc:docMk/>
          <pc:sldMk cId="0" sldId="258"/>
        </pc:sldMkLst>
        <pc:spChg chg="mod">
          <ac:chgData name="Dushyant Ravi" userId="84d5bb735f0b42ef" providerId="LiveId" clId="{70780C24-7925-4EDA-A6CC-EE42E1CDECF5}" dt="2026-10-09T16:32:00.224" v="217"/>
          <ac:spMkLst>
            <pc:docMk/>
            <pc:sldMk cId="0" sldId="258"/>
            <ac:spMk id="6" creationId="{00000000-0000-0000-0000-000000000000}"/>
          </ac:spMkLst>
        </pc:spChg>
        <pc:spChg chg="mod">
          <ac:chgData name="Dushyant Ravi" userId="84d5bb735f0b42ef" providerId="LiveId" clId="{70780C24-7925-4EDA-A6CC-EE42E1CDECF5}" dt="2026-10-09T16:43:58.560" v="351" actId="1076"/>
          <ac:spMkLst>
            <pc:docMk/>
            <pc:sldMk cId="0" sldId="258"/>
            <ac:spMk id="10" creationId="{00000000-0000-0000-0000-000000000000}"/>
          </ac:spMkLst>
        </pc:spChg>
        <pc:spChg chg="add del">
          <ac:chgData name="Dushyant Ravi" userId="84d5bb735f0b42ef" providerId="LiveId" clId="{70780C24-7925-4EDA-A6CC-EE42E1CDECF5}" dt="2026-10-09T16:22:27.623" v="35"/>
          <ac:spMkLst>
            <pc:docMk/>
            <pc:sldMk cId="0" sldId="258"/>
            <ac:spMk id="11" creationId="{4A66BB90-002B-46CA-B6F1-CF486386EBDF}"/>
          </ac:spMkLst>
        </pc:spChg>
      </pc:sldChg>
      <pc:sldChg chg="modSp mod">
        <pc:chgData name="Dushyant Ravi" userId="84d5bb735f0b42ef" providerId="LiveId" clId="{70780C24-7925-4EDA-A6CC-EE42E1CDECF5}" dt="2026-10-09T16:32:04.712" v="218"/>
        <pc:sldMkLst>
          <pc:docMk/>
          <pc:sldMk cId="0" sldId="259"/>
        </pc:sldMkLst>
        <pc:spChg chg="mod">
          <ac:chgData name="Dushyant Ravi" userId="84d5bb735f0b42ef" providerId="LiveId" clId="{70780C24-7925-4EDA-A6CC-EE42E1CDECF5}" dt="2026-10-09T16:32:04.712" v="218"/>
          <ac:spMkLst>
            <pc:docMk/>
            <pc:sldMk cId="0" sldId="259"/>
            <ac:spMk id="6" creationId="{00000000-0000-0000-0000-000000000000}"/>
          </ac:spMkLst>
        </pc:spChg>
        <pc:spChg chg="mod">
          <ac:chgData name="Dushyant Ravi" userId="84d5bb735f0b42ef" providerId="LiveId" clId="{70780C24-7925-4EDA-A6CC-EE42E1CDECF5}" dt="2026-10-09T16:30:03.055" v="214" actId="113"/>
          <ac:spMkLst>
            <pc:docMk/>
            <pc:sldMk cId="0" sldId="259"/>
            <ac:spMk id="10" creationId="{00000000-0000-0000-0000-000000000000}"/>
          </ac:spMkLst>
        </pc:spChg>
      </pc:sldChg>
      <pc:sldChg chg="addSp delSp modSp mod">
        <pc:chgData name="Dushyant Ravi" userId="84d5bb735f0b42ef" providerId="LiveId" clId="{70780C24-7925-4EDA-A6CC-EE42E1CDECF5}" dt="2026-10-09T16:43:43.872" v="350" actId="1076"/>
        <pc:sldMkLst>
          <pc:docMk/>
          <pc:sldMk cId="0" sldId="260"/>
        </pc:sldMkLst>
        <pc:spChg chg="mod">
          <ac:chgData name="Dushyant Ravi" userId="84d5bb735f0b42ef" providerId="LiveId" clId="{70780C24-7925-4EDA-A6CC-EE42E1CDECF5}" dt="2026-10-09T16:32:08.785" v="219"/>
          <ac:spMkLst>
            <pc:docMk/>
            <pc:sldMk cId="0" sldId="260"/>
            <ac:spMk id="6" creationId="{00000000-0000-0000-0000-000000000000}"/>
          </ac:spMkLst>
        </pc:spChg>
        <pc:spChg chg="mod">
          <ac:chgData name="Dushyant Ravi" userId="84d5bb735f0b42ef" providerId="LiveId" clId="{70780C24-7925-4EDA-A6CC-EE42E1CDECF5}" dt="2026-10-09T16:43:43.872" v="350" actId="1076"/>
          <ac:spMkLst>
            <pc:docMk/>
            <pc:sldMk cId="0" sldId="260"/>
            <ac:spMk id="10" creationId="{00000000-0000-0000-0000-000000000000}"/>
          </ac:spMkLst>
        </pc:spChg>
        <pc:spChg chg="add del">
          <ac:chgData name="Dushyant Ravi" userId="84d5bb735f0b42ef" providerId="LiveId" clId="{70780C24-7925-4EDA-A6CC-EE42E1CDECF5}" dt="2026-10-09T16:34:26.413" v="236"/>
          <ac:spMkLst>
            <pc:docMk/>
            <pc:sldMk cId="0" sldId="260"/>
            <ac:spMk id="11" creationId="{05B5EF20-CDC7-418C-A865-423E7D8E5D2E}"/>
          </ac:spMkLst>
        </pc:spChg>
        <pc:spChg chg="add del">
          <ac:chgData name="Dushyant Ravi" userId="84d5bb735f0b42ef" providerId="LiveId" clId="{70780C24-7925-4EDA-A6CC-EE42E1CDECF5}" dt="2026-10-09T16:34:39.978" v="239"/>
          <ac:spMkLst>
            <pc:docMk/>
            <pc:sldMk cId="0" sldId="260"/>
            <ac:spMk id="12" creationId="{5F3E0545-78D4-4E65-A69F-FB88A3E436C4}"/>
          </ac:spMkLst>
        </pc:spChg>
      </pc:sldChg>
      <pc:sldChg chg="addSp delSp modSp mod">
        <pc:chgData name="Dushyant Ravi" userId="84d5bb735f0b42ef" providerId="LiveId" clId="{70780C24-7925-4EDA-A6CC-EE42E1CDECF5}" dt="2026-10-09T17:10:42.364" v="543" actId="20577"/>
        <pc:sldMkLst>
          <pc:docMk/>
          <pc:sldMk cId="0" sldId="261"/>
        </pc:sldMkLst>
        <pc:spChg chg="mod">
          <ac:chgData name="Dushyant Ravi" userId="84d5bb735f0b42ef" providerId="LiveId" clId="{70780C24-7925-4EDA-A6CC-EE42E1CDECF5}" dt="2026-10-09T16:32:13.625" v="220"/>
          <ac:spMkLst>
            <pc:docMk/>
            <pc:sldMk cId="0" sldId="261"/>
            <ac:spMk id="6" creationId="{00000000-0000-0000-0000-000000000000}"/>
          </ac:spMkLst>
        </pc:spChg>
        <pc:spChg chg="mod">
          <ac:chgData name="Dushyant Ravi" userId="84d5bb735f0b42ef" providerId="LiveId" clId="{70780C24-7925-4EDA-A6CC-EE42E1CDECF5}" dt="2026-10-09T17:10:42.364" v="543" actId="20577"/>
          <ac:spMkLst>
            <pc:docMk/>
            <pc:sldMk cId="0" sldId="261"/>
            <ac:spMk id="10" creationId="{00000000-0000-0000-0000-000000000000}"/>
          </ac:spMkLst>
        </pc:spChg>
        <pc:spChg chg="add del">
          <ac:chgData name="Dushyant Ravi" userId="84d5bb735f0b42ef" providerId="LiveId" clId="{70780C24-7925-4EDA-A6CC-EE42E1CDECF5}" dt="2026-10-09T16:41:16.553" v="321"/>
          <ac:spMkLst>
            <pc:docMk/>
            <pc:sldMk cId="0" sldId="261"/>
            <ac:spMk id="11" creationId="{C03AC260-5764-4382-84D0-022202CC2D68}"/>
          </ac:spMkLst>
        </pc:spChg>
      </pc:sldChg>
      <pc:sldChg chg="modSp mod">
        <pc:chgData name="Dushyant Ravi" userId="84d5bb735f0b42ef" providerId="LiveId" clId="{70780C24-7925-4EDA-A6CC-EE42E1CDECF5}" dt="2026-10-09T17:10:29.452" v="539" actId="20577"/>
        <pc:sldMkLst>
          <pc:docMk/>
          <pc:sldMk cId="0" sldId="262"/>
        </pc:sldMkLst>
        <pc:spChg chg="mod">
          <ac:chgData name="Dushyant Ravi" userId="84d5bb735f0b42ef" providerId="LiveId" clId="{70780C24-7925-4EDA-A6CC-EE42E1CDECF5}" dt="2026-10-09T16:32:17.789" v="221"/>
          <ac:spMkLst>
            <pc:docMk/>
            <pc:sldMk cId="0" sldId="262"/>
            <ac:spMk id="6" creationId="{00000000-0000-0000-0000-000000000000}"/>
          </ac:spMkLst>
        </pc:spChg>
        <pc:spChg chg="mod">
          <ac:chgData name="Dushyant Ravi" userId="84d5bb735f0b42ef" providerId="LiveId" clId="{70780C24-7925-4EDA-A6CC-EE42E1CDECF5}" dt="2026-10-09T17:10:29.452" v="539" actId="20577"/>
          <ac:spMkLst>
            <pc:docMk/>
            <pc:sldMk cId="0" sldId="262"/>
            <ac:spMk id="10" creationId="{00000000-0000-0000-0000-000000000000}"/>
          </ac:spMkLst>
        </pc:spChg>
      </pc:sldChg>
      <pc:sldChg chg="modSp mod">
        <pc:chgData name="Dushyant Ravi" userId="84d5bb735f0b42ef" providerId="LiveId" clId="{70780C24-7925-4EDA-A6CC-EE42E1CDECF5}" dt="2026-10-09T17:11:40.526" v="570"/>
        <pc:sldMkLst>
          <pc:docMk/>
          <pc:sldMk cId="0" sldId="263"/>
        </pc:sldMkLst>
        <pc:spChg chg="mod">
          <ac:chgData name="Dushyant Ravi" userId="84d5bb735f0b42ef" providerId="LiveId" clId="{70780C24-7925-4EDA-A6CC-EE42E1CDECF5}" dt="2026-10-09T16:32:23.565" v="222"/>
          <ac:spMkLst>
            <pc:docMk/>
            <pc:sldMk cId="0" sldId="263"/>
            <ac:spMk id="6" creationId="{00000000-0000-0000-0000-000000000000}"/>
          </ac:spMkLst>
        </pc:spChg>
        <pc:spChg chg="mod">
          <ac:chgData name="Dushyant Ravi" userId="84d5bb735f0b42ef" providerId="LiveId" clId="{70780C24-7925-4EDA-A6CC-EE42E1CDECF5}" dt="2026-10-09T17:11:40.526" v="570"/>
          <ac:spMkLst>
            <pc:docMk/>
            <pc:sldMk cId="0" sldId="263"/>
            <ac:spMk id="10" creationId="{00000000-0000-0000-0000-000000000000}"/>
          </ac:spMkLst>
        </pc:spChg>
      </pc:sldChg>
      <pc:sldChg chg="modSp del mod">
        <pc:chgData name="Dushyant Ravi" userId="84d5bb735f0b42ef" providerId="LiveId" clId="{70780C24-7925-4EDA-A6CC-EE42E1CDECF5}" dt="2026-10-09T17:12:01.865" v="571" actId="47"/>
        <pc:sldMkLst>
          <pc:docMk/>
          <pc:sldMk cId="0" sldId="264"/>
        </pc:sldMkLst>
        <pc:spChg chg="mod">
          <ac:chgData name="Dushyant Ravi" userId="84d5bb735f0b42ef" providerId="LiveId" clId="{70780C24-7925-4EDA-A6CC-EE42E1CDECF5}" dt="2026-10-09T16:32:33.740" v="223"/>
          <ac:spMkLst>
            <pc:docMk/>
            <pc:sldMk cId="0" sldId="264"/>
            <ac:spMk id="6" creationId="{00000000-0000-0000-0000-000000000000}"/>
          </ac:spMkLst>
        </pc:spChg>
      </pc:sldChg>
      <pc:sldChg chg="modSp mod">
        <pc:chgData name="Dushyant Ravi" userId="84d5bb735f0b42ef" providerId="LiveId" clId="{70780C24-7925-4EDA-A6CC-EE42E1CDECF5}" dt="2026-10-09T16:59:22.329" v="402" actId="20577"/>
        <pc:sldMkLst>
          <pc:docMk/>
          <pc:sldMk cId="0" sldId="266"/>
        </pc:sldMkLst>
        <pc:spChg chg="mod">
          <ac:chgData name="Dushyant Ravi" userId="84d5bb735f0b42ef" providerId="LiveId" clId="{70780C24-7925-4EDA-A6CC-EE42E1CDECF5}" dt="2026-10-09T16:59:22.329" v="402" actId="20577"/>
          <ac:spMkLst>
            <pc:docMk/>
            <pc:sldMk cId="0" sldId="266"/>
            <ac:spMk id="2" creationId="{00000000-0000-0000-0000-000000000000}"/>
          </ac:spMkLst>
        </pc:spChg>
        <pc:spChg chg="mod">
          <ac:chgData name="Dushyant Ravi" userId="84d5bb735f0b42ef" providerId="LiveId" clId="{70780C24-7925-4EDA-A6CC-EE42E1CDECF5}" dt="2026-10-09T16:31:52.387" v="216" actId="20577"/>
          <ac:spMkLst>
            <pc:docMk/>
            <pc:sldMk cId="0" sldId="266"/>
            <ac:spMk id="6" creationId="{00000000-0000-0000-0000-000000000000}"/>
          </ac:spMkLst>
        </pc:spChg>
        <pc:spChg chg="mod">
          <ac:chgData name="Dushyant Ravi" userId="84d5bb735f0b42ef" providerId="LiveId" clId="{70780C24-7925-4EDA-A6CC-EE42E1CDECF5}" dt="2026-10-09T16:44:05.111" v="352" actId="1076"/>
          <ac:spMkLst>
            <pc:docMk/>
            <pc:sldMk cId="0" sldId="266"/>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024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491490" y="3593592"/>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400" dirty="0">
                <a:solidFill>
                  <a:schemeClr val="bg1"/>
                </a:solidFill>
              </a:rPr>
              <a:t>Team Name – The Fantastic Four</a:t>
            </a:r>
            <a:endParaRPr lang="en-US" sz="1400" dirty="0"/>
          </a:p>
          <a:p>
            <a:pPr marL="285750" indent="-285750">
              <a:spcAft>
                <a:spcPts val="1400"/>
              </a:spcAft>
              <a:buClr>
                <a:schemeClr val="accent3"/>
              </a:buClr>
              <a:buSzPct val="100000"/>
              <a:buFont typeface="Arial" panose="020B0604020202020204" pitchFamily="34" charset="0"/>
              <a:buChar char="•"/>
            </a:pPr>
            <a:r>
              <a:rPr lang="en-US" sz="1400" dirty="0">
                <a:solidFill>
                  <a:schemeClr val="bg1"/>
                </a:solidFill>
              </a:rPr>
              <a:t>Team Members: </a:t>
            </a:r>
          </a:p>
          <a:p>
            <a:pPr marL="742950" lvl="1" indent="-285750">
              <a:spcAft>
                <a:spcPts val="1400"/>
              </a:spcAft>
              <a:buClr>
                <a:schemeClr val="accent3"/>
              </a:buClr>
              <a:buSzPct val="100000"/>
              <a:buFont typeface="Arial" panose="020B0604020202020204" pitchFamily="34" charset="0"/>
              <a:buChar char="•"/>
            </a:pPr>
            <a:r>
              <a:rPr lang="en-US" sz="1400" dirty="0">
                <a:solidFill>
                  <a:schemeClr val="bg1"/>
                </a:solidFill>
              </a:rPr>
              <a:t>Jahnavi -     CB.EN.U4AEE26021</a:t>
            </a:r>
          </a:p>
          <a:p>
            <a:pPr marL="742950" lvl="1" indent="-285750">
              <a:spcAft>
                <a:spcPts val="1400"/>
              </a:spcAft>
              <a:buClr>
                <a:schemeClr val="accent3"/>
              </a:buClr>
              <a:buSzPct val="100000"/>
              <a:buFont typeface="Arial" panose="020B0604020202020204" pitchFamily="34" charset="0"/>
              <a:buChar char="•"/>
            </a:pPr>
            <a:r>
              <a:rPr lang="en-US" sz="1400" dirty="0">
                <a:solidFill>
                  <a:schemeClr val="bg1"/>
                </a:solidFill>
              </a:rPr>
              <a:t>Aditi -          CB.EN.U4AEE26003</a:t>
            </a:r>
          </a:p>
          <a:p>
            <a:pPr marL="742950" lvl="1" indent="-285750">
              <a:spcAft>
                <a:spcPts val="1400"/>
              </a:spcAft>
              <a:buClr>
                <a:schemeClr val="accent3"/>
              </a:buClr>
              <a:buSzPct val="100000"/>
              <a:buFont typeface="Arial" panose="020B0604020202020204" pitchFamily="34" charset="0"/>
              <a:buChar char="•"/>
            </a:pPr>
            <a:r>
              <a:rPr lang="en-US" sz="1400" dirty="0">
                <a:solidFill>
                  <a:schemeClr val="bg1"/>
                </a:solidFill>
              </a:rPr>
              <a:t>Dushyant – CB.EN.U4AEE26010</a:t>
            </a:r>
          </a:p>
          <a:p>
            <a:pPr marL="742950" lvl="1" indent="-285750">
              <a:spcAft>
                <a:spcPts val="1400"/>
              </a:spcAft>
              <a:buClr>
                <a:schemeClr val="accent3"/>
              </a:buClr>
              <a:buSzPct val="100000"/>
              <a:buFont typeface="Arial" panose="020B0604020202020204" pitchFamily="34" charset="0"/>
              <a:buChar char="•"/>
            </a:pPr>
            <a:r>
              <a:rPr lang="en-US" sz="1400" dirty="0">
                <a:solidFill>
                  <a:schemeClr val="bg1"/>
                </a:solidFill>
              </a:rPr>
              <a:t>Aditya -        CB.EN.U4AEE26040</a:t>
            </a:r>
            <a:endParaRPr lang="en-US" sz="1400" dirty="0"/>
          </a:p>
          <a:p>
            <a:pPr marL="279400" indent="-279400">
              <a:spcAft>
                <a:spcPts val="1400"/>
              </a:spcAft>
              <a:buClr>
                <a:schemeClr val="accent3"/>
              </a:buClr>
              <a:buSzPct val="100000"/>
              <a:buChar char="•"/>
            </a:pPr>
            <a:r>
              <a:rPr lang="en-US" sz="1400" dirty="0">
                <a:solidFill>
                  <a:schemeClr val="bg1"/>
                </a:solidFill>
              </a:rPr>
              <a:t>Selected Domain – Space, Aerospace, Mobility and Next-Gen Infrastructure</a:t>
            </a:r>
            <a:endParaRPr lang="en-US" sz="1400" dirty="0"/>
          </a:p>
          <a:p>
            <a:pPr marL="279400" indent="-279400">
              <a:spcAft>
                <a:spcPts val="1400"/>
              </a:spcAft>
              <a:buClr>
                <a:schemeClr val="accent3"/>
              </a:buClr>
              <a:buSzPct val="100000"/>
              <a:buChar char="•"/>
            </a:pPr>
            <a:r>
              <a:rPr lang="en-US" sz="1400" dirty="0">
                <a:solidFill>
                  <a:schemeClr val="bg1"/>
                </a:solidFill>
              </a:rPr>
              <a:t>Problem Statement – “The Satellite End-of-Life Problem”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YOUR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83920" y="2459233"/>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What exactly needs to be solved?</a:t>
            </a:r>
          </a:p>
          <a:p>
            <a:pPr marL="742950" lvl="1" indent="-285750">
              <a:spcAft>
                <a:spcPts val="1000"/>
              </a:spcAft>
              <a:buClr>
                <a:schemeClr val="accent1"/>
              </a:buClr>
              <a:buSzPct val="100000"/>
              <a:buFont typeface="Wingdings" panose="05000000000000000000" pitchFamily="2" charset="2"/>
              <a:buChar char="ü"/>
            </a:pPr>
            <a:r>
              <a:rPr lang="en-IN" sz="1600" dirty="0"/>
              <a:t>Satellites are designed to operate for a limited period, but after they stop functioning, they remain physical objects in an increasingly crowded orbital environment, creating the unresolved problem of what responsible ‘retirement’ should mean for increasingly large satellite constellations.</a:t>
            </a:r>
            <a:endParaRPr lang="en-US" sz="1600" dirty="0"/>
          </a:p>
          <a:p>
            <a:pPr marL="279400" indent="-279400">
              <a:spcAft>
                <a:spcPts val="1000"/>
              </a:spcAft>
              <a:buClr>
                <a:schemeClr val="accent1"/>
              </a:buClr>
              <a:buSzPct val="100000"/>
              <a:buChar char="•"/>
            </a:pPr>
            <a:r>
              <a:rPr lang="en-US" sz="1600" dirty="0">
                <a:solidFill>
                  <a:schemeClr val="tx1"/>
                </a:solidFill>
              </a:rPr>
              <a:t>Why is it important right now?</a:t>
            </a:r>
          </a:p>
          <a:p>
            <a:pPr marL="742950" lvl="1" indent="-285750">
              <a:spcAft>
                <a:spcPts val="1000"/>
              </a:spcAft>
              <a:buClr>
                <a:schemeClr val="accent1"/>
              </a:buClr>
              <a:buSzPct val="100000"/>
              <a:buFont typeface="Wingdings" panose="05000000000000000000" pitchFamily="2" charset="2"/>
              <a:buChar char="ü"/>
            </a:pPr>
            <a:r>
              <a:rPr lang="en-US" sz="1600" dirty="0"/>
              <a:t>The Satellite End-of-Life Problem is important right now because satellite launches and large constellations are growing rapidly, creating more retired spacecraft and space debris. Failed or abandoned satellites can collide and generate thousands of fragments, increasing the risk to other spacecraft. Since satellites are now essential for communication, navigation, weather monitoring, and many other services, safe and scalable satellite retirement has become an urgent challenge.</a:t>
            </a:r>
            <a:endParaRPr lang="en-IN" sz="1600" dirty="0"/>
          </a:p>
          <a:p>
            <a:pPr lvl="1">
              <a:spcAft>
                <a:spcPts val="1000"/>
              </a:spcAft>
              <a:buClr>
                <a:schemeClr val="accent1"/>
              </a:buClr>
              <a:buSzPct val="100000"/>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008693"/>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Primary users / target group:</a:t>
            </a:r>
          </a:p>
          <a:p>
            <a:pPr marL="742950" lvl="1" indent="-285750">
              <a:spcAft>
                <a:spcPts val="1000"/>
              </a:spcAft>
              <a:buClr>
                <a:schemeClr val="accent1"/>
              </a:buClr>
              <a:buSzPct val="100000"/>
              <a:buFont typeface="Wingdings" panose="05000000000000000000" pitchFamily="2" charset="2"/>
              <a:buChar char="ü"/>
            </a:pPr>
            <a:r>
              <a:rPr lang="en-US" sz="1600" dirty="0"/>
              <a:t>The space agencies and organizations that launch satellites—like NASA, ESA, ISRO, Roscosmos State Corporation for Space Activities and private companies like SpaceX. Satellite operators like telecom, broadcasting, GPS companies, they need safe orbits for their assets.</a:t>
            </a:r>
          </a:p>
          <a:p>
            <a:pPr marL="279400" indent="-279400">
              <a:spcAft>
                <a:spcPts val="1000"/>
              </a:spcAft>
              <a:buClr>
                <a:schemeClr val="accent1"/>
              </a:buClr>
              <a:buSzPct val="100000"/>
              <a:buChar char="•"/>
            </a:pPr>
            <a:r>
              <a:rPr lang="en-US" sz="1600" dirty="0">
                <a:solidFill>
                  <a:schemeClr val="tx1"/>
                </a:solidFill>
              </a:rPr>
              <a:t>Secondary stakeholders:</a:t>
            </a:r>
          </a:p>
          <a:p>
            <a:pPr marL="742950" lvl="1" indent="-285750">
              <a:spcAft>
                <a:spcPts val="1000"/>
              </a:spcAft>
              <a:buClr>
                <a:schemeClr val="accent1"/>
              </a:buClr>
              <a:buSzPct val="100000"/>
              <a:buFont typeface="Wingdings" panose="05000000000000000000" pitchFamily="2" charset="2"/>
              <a:buChar char="ü"/>
            </a:pPr>
            <a:r>
              <a:rPr lang="en-US" sz="1600" dirty="0"/>
              <a:t>The general public that rely on GPS, internet, weather forecasts, and communication services; Telecommunications &amp; internet providers; Aviation &amp; maritime industries; and also the scientific community.</a:t>
            </a:r>
          </a:p>
          <a:p>
            <a:pPr marL="742950" lvl="1" indent="-285750">
              <a:spcAft>
                <a:spcPts val="1000"/>
              </a:spcAft>
              <a:buClr>
                <a:schemeClr val="accent1"/>
              </a:buClr>
              <a:buSzPct val="100000"/>
              <a:buFont typeface="Wingdings" panose="05000000000000000000" pitchFamily="2" charset="2"/>
              <a:buChar char="ü"/>
            </a:pPr>
            <a:r>
              <a:rPr lang="en-US" sz="1600" dirty="0"/>
              <a:t>Insurance Companies; Environmental &amp; Sustainability Groups; Educational Institutions are the groups indirectly benefited on solving this problem.</a:t>
            </a:r>
          </a:p>
          <a:p>
            <a:pPr marL="279400" indent="-279400">
              <a:spcAft>
                <a:spcPts val="1000"/>
              </a:spcAft>
              <a:buClr>
                <a:schemeClr val="accent1"/>
              </a:buClr>
              <a:buSzPct val="100000"/>
              <a:buChar char="•"/>
            </a:pPr>
            <a:r>
              <a:rPr lang="en-US" sz="1600" dirty="0">
                <a:solidFill>
                  <a:schemeClr val="tx1"/>
                </a:solidFill>
              </a:rPr>
              <a:t>Who benefits if the problem is solved?</a:t>
            </a:r>
          </a:p>
          <a:p>
            <a:pPr marL="742950" lvl="1" indent="-285750">
              <a:spcAft>
                <a:spcPts val="1000"/>
              </a:spcAft>
              <a:buClr>
                <a:schemeClr val="accent1"/>
              </a:buClr>
              <a:buSzPct val="100000"/>
              <a:buFont typeface="Wingdings" panose="05000000000000000000" pitchFamily="2" charset="2"/>
              <a:buChar char="ü"/>
            </a:pPr>
            <a:r>
              <a:rPr lang="en-US" sz="1600" dirty="0"/>
              <a:t>Satellite Operators (e.g., SpaceX Starlink, OneWeb): Reduced debris risks and safer management of large satellite constellations.</a:t>
            </a:r>
          </a:p>
          <a:p>
            <a:pPr marL="742950" lvl="1" indent="-285750">
              <a:spcAft>
                <a:spcPts val="1000"/>
              </a:spcAft>
              <a:buClr>
                <a:schemeClr val="accent1"/>
              </a:buClr>
              <a:buSzPct val="100000"/>
              <a:buFont typeface="Wingdings" panose="05000000000000000000" pitchFamily="2" charset="2"/>
              <a:buChar char="ü"/>
            </a:pPr>
            <a:r>
              <a:rPr lang="en-US" sz="1600" dirty="0"/>
              <a:t>Astronauts and Space Stations (e.g., ISS): Reduced exposure to hazards from orbital debris.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Existing scenario and background:</a:t>
            </a:r>
          </a:p>
          <a:p>
            <a:pPr marL="742950" lvl="1" indent="-285750">
              <a:spcAft>
                <a:spcPts val="1000"/>
              </a:spcAft>
              <a:buClr>
                <a:schemeClr val="accent1"/>
              </a:buClr>
              <a:buSzPct val="100000"/>
              <a:buFont typeface="Wingdings" panose="05000000000000000000" pitchFamily="2" charset="2"/>
              <a:buChar char="ü"/>
            </a:pPr>
            <a:r>
              <a:rPr lang="en-US" sz="1600" dirty="0"/>
              <a:t>Satellites are being launched at an unprecedented rate, especially with the growth of large satellite constellations. However, not all satellites are successfully removed when their missions end. Some become inactive because of fuel depletion, propulsion failure, communication loss, or other malfunctions and remain in orbit as space debris. ESA's 2026 report specifically identifies the failure to remove enough satellites from congested orbits at the end of their lives as a growing collision risk.</a:t>
            </a:r>
          </a:p>
          <a:p>
            <a:pPr marL="279400" indent="-279400">
              <a:spcAft>
                <a:spcPts val="1000"/>
              </a:spcAft>
              <a:buClr>
                <a:schemeClr val="accent1"/>
              </a:buClr>
              <a:buSzPct val="100000"/>
              <a:buChar char="•"/>
            </a:pPr>
            <a:r>
              <a:rPr lang="en-US" sz="1600" dirty="0">
                <a:solidFill>
                  <a:schemeClr val="tx1"/>
                </a:solidFill>
              </a:rPr>
              <a:t>Relevant data or facts (if available):</a:t>
            </a:r>
          </a:p>
          <a:p>
            <a:pPr marL="742950" lvl="1" indent="-285750">
              <a:spcAft>
                <a:spcPts val="1000"/>
              </a:spcAft>
              <a:buClr>
                <a:schemeClr val="accent1"/>
              </a:buClr>
              <a:buSzPct val="100000"/>
              <a:buFont typeface="Wingdings" panose="05000000000000000000" pitchFamily="2" charset="2"/>
              <a:buChar char="ü"/>
            </a:pPr>
            <a:r>
              <a:rPr lang="en-US" sz="1600" dirty="0"/>
              <a:t>Around 18,850 objects are still in space, with about 15,900 functioning as of July 2026 and around 10 new objects are being launched into orbit every day.</a:t>
            </a:r>
          </a:p>
          <a:p>
            <a:pPr marL="279400" indent="-279400">
              <a:spcAft>
                <a:spcPts val="1000"/>
              </a:spcAft>
              <a:buClr>
                <a:schemeClr val="accent1"/>
              </a:buClr>
              <a:buSzPct val="100000"/>
              <a:buChar char="•"/>
            </a:pPr>
            <a:r>
              <a:rPr lang="en-US" sz="1600" dirty="0">
                <a:solidFill>
                  <a:schemeClr val="tx1"/>
                </a:solidFill>
              </a:rPr>
              <a:t>Current workflow, step by step:</a:t>
            </a:r>
          </a:p>
          <a:p>
            <a:pPr marL="742950" lvl="1" indent="-285750">
              <a:buFont typeface="Wingdings" panose="05000000000000000000" pitchFamily="2" charset="2"/>
              <a:buChar char="ü"/>
            </a:pPr>
            <a:r>
              <a:rPr lang="en-US" sz="1600" dirty="0"/>
              <a:t> Mission Ends → Satellite Becomes Inactive → Passivation → Deorbit / Graveyard Orbit → Tracking &amp; Monitoring</a:t>
            </a:r>
          </a:p>
          <a:p>
            <a:pPr lvl="1"/>
            <a:endParaRPr lang="en-US" sz="1600" dirty="0"/>
          </a:p>
          <a:p>
            <a:pPr marL="285750" indent="-285750">
              <a:buFont typeface="Wingdings" panose="05000000000000000000" pitchFamily="2" charset="2"/>
              <a:buChar char="v"/>
            </a:pPr>
            <a:r>
              <a:rPr lang="en-US" sz="1600" dirty="0"/>
              <a:t>Problem: If disposal fails or is not planned effectively, the satellite becomes another uncontrolled object in orbit.</a:t>
            </a:r>
          </a:p>
          <a:p>
            <a:pPr marL="742950" lvl="1" indent="-285750">
              <a:spcAft>
                <a:spcPts val="1000"/>
              </a:spcAft>
              <a:buClr>
                <a:schemeClr val="accent1"/>
              </a:buClr>
              <a:buSzPct val="100000"/>
              <a:buFont typeface="Wingdings" panose="05000000000000000000" pitchFamily="2" charset="2"/>
              <a:buChar char="ü"/>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1983526"/>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Main difficulties and bottlenecks:</a:t>
            </a:r>
          </a:p>
          <a:p>
            <a:pPr marL="742950" lvl="1" indent="-285750">
              <a:spcAft>
                <a:spcPts val="1000"/>
              </a:spcAft>
              <a:buClr>
                <a:schemeClr val="accent1"/>
              </a:buClr>
              <a:buSzPct val="100000"/>
              <a:buFont typeface="Wingdings" panose="05000000000000000000" pitchFamily="2" charset="2"/>
              <a:buChar char="ü"/>
            </a:pPr>
            <a:r>
              <a:rPr lang="en-US" sz="1600" dirty="0">
                <a:solidFill>
                  <a:schemeClr val="tx1"/>
                </a:solidFill>
              </a:rPr>
              <a:t>Challenges include limited fuel availability at the end of a mission, high disposal costs, and technical complexity. Failed satellites may lose communication and control making satellite retirement difficult. Different orbital environments require different disposal strategies, making it challenging to develop a single, efficient solution for all satellites.</a:t>
            </a:r>
          </a:p>
          <a:p>
            <a:pPr marL="279400" indent="-279400">
              <a:spcAft>
                <a:spcPts val="1000"/>
              </a:spcAft>
              <a:buClr>
                <a:schemeClr val="accent1"/>
              </a:buClr>
              <a:buSzPct val="100000"/>
              <a:buChar char="•"/>
            </a:pPr>
            <a:r>
              <a:rPr lang="en-US" sz="1600" dirty="0">
                <a:solidFill>
                  <a:schemeClr val="tx1"/>
                </a:solidFill>
              </a:rPr>
              <a:t>Root causes behind them:</a:t>
            </a:r>
          </a:p>
          <a:p>
            <a:pPr marL="742950" lvl="1" indent="-285750">
              <a:spcAft>
                <a:spcPts val="1000"/>
              </a:spcAft>
              <a:buClr>
                <a:schemeClr val="accent1"/>
              </a:buClr>
              <a:buSzPct val="100000"/>
              <a:buFont typeface="Wingdings" panose="05000000000000000000" pitchFamily="2" charset="2"/>
              <a:buChar char="ü"/>
            </a:pPr>
            <a:r>
              <a:rPr lang="en-US" sz="1600" dirty="0"/>
              <a:t>It includes fuel depletion, propulsion failure, communication loss, and degradation of onboard components. Many satellites lack reliable backup mechanisms to ensure safe disposal when critical systems fail. High removal costs and limited in-orbit servicing make safe satellite retirement more challenging.</a:t>
            </a:r>
          </a:p>
          <a:p>
            <a:pPr marL="279400" indent="-279400">
              <a:spcAft>
                <a:spcPts val="1000"/>
              </a:spcAft>
              <a:buClr>
                <a:schemeClr val="accent1"/>
              </a:buClr>
              <a:buSzPct val="100000"/>
              <a:buChar char="•"/>
            </a:pPr>
            <a:r>
              <a:rPr lang="en-US" sz="1600" dirty="0">
                <a:solidFill>
                  <a:schemeClr val="tx1"/>
                </a:solidFill>
              </a:rPr>
              <a:t>Consequences of leaving them unsolved:</a:t>
            </a:r>
          </a:p>
          <a:p>
            <a:pPr marL="742950" lvl="1" indent="-285750">
              <a:spcAft>
                <a:spcPts val="1000"/>
              </a:spcAft>
              <a:buClr>
                <a:schemeClr val="accent1"/>
              </a:buClr>
              <a:buSzPct val="100000"/>
              <a:buFont typeface="Wingdings" panose="05000000000000000000" pitchFamily="2" charset="2"/>
              <a:buChar char="ü"/>
            </a:pPr>
            <a:r>
              <a:rPr lang="en-US" sz="1600" dirty="0"/>
              <a:t>The accumulation of inactive satellites increases the risk of collisions and the generation of dangerous space debris. These collisions can trigger a chain reaction known as the Kessler Syndrome, making certain orbits increasingly hazardous. Space debris threatens operational satellites, future space missions, and astronauts. It can also disrupt essential services such as GPS, communication, weather forecasting, and disaster monitoring, while increasing the cost of space operations.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34847" y="19202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Existing methods, systems or alternatives:</a:t>
            </a:r>
          </a:p>
          <a:p>
            <a:pPr marL="742950" lvl="1" indent="-285750">
              <a:spcAft>
                <a:spcPts val="1000"/>
              </a:spcAft>
              <a:buClr>
                <a:schemeClr val="accent1"/>
              </a:buClr>
              <a:buSzPct val="100000"/>
              <a:buFont typeface="Wingdings" panose="05000000000000000000" pitchFamily="2" charset="2"/>
              <a:buChar char="ü"/>
            </a:pPr>
            <a:r>
              <a:rPr lang="en-US" sz="1600" b="1" dirty="0"/>
              <a:t>Controlled Deorbiting</a:t>
            </a:r>
            <a:r>
              <a:rPr lang="en-US" sz="1600" dirty="0"/>
              <a:t> — use propulsion to re-enter the atmosphere.</a:t>
            </a:r>
          </a:p>
          <a:p>
            <a:pPr marL="742950" lvl="1" indent="-285750">
              <a:spcAft>
                <a:spcPts val="1000"/>
              </a:spcAft>
              <a:buClr>
                <a:schemeClr val="accent1"/>
              </a:buClr>
              <a:buSzPct val="100000"/>
              <a:buFont typeface="Wingdings" panose="05000000000000000000" pitchFamily="2" charset="2"/>
              <a:buChar char="ü"/>
            </a:pPr>
            <a:r>
              <a:rPr lang="en-US" sz="1600" b="1" dirty="0"/>
              <a:t>Graveyard Orbits</a:t>
            </a:r>
            <a:r>
              <a:rPr lang="en-US" sz="1600" dirty="0"/>
              <a:t> — move satellites away from operational regions.</a:t>
            </a:r>
          </a:p>
          <a:p>
            <a:pPr marL="742950" lvl="1" indent="-285750">
              <a:spcAft>
                <a:spcPts val="1000"/>
              </a:spcAft>
              <a:buClr>
                <a:schemeClr val="accent1"/>
              </a:buClr>
              <a:buSzPct val="100000"/>
              <a:buFont typeface="Wingdings" panose="05000000000000000000" pitchFamily="2" charset="2"/>
              <a:buChar char="ü"/>
            </a:pPr>
            <a:r>
              <a:rPr lang="en-IN" sz="1600" b="1" dirty="0"/>
              <a:t>Drag Sails / Drag Devices</a:t>
            </a:r>
            <a:r>
              <a:rPr lang="en-IN" sz="1600" dirty="0"/>
              <a:t> — accelerate natural orbital decay.</a:t>
            </a:r>
            <a:endParaRPr lang="en-US" sz="1600" dirty="0"/>
          </a:p>
          <a:p>
            <a:pPr marL="742950" lvl="1" indent="-285750">
              <a:spcAft>
                <a:spcPts val="1000"/>
              </a:spcAft>
              <a:buClr>
                <a:schemeClr val="accent1"/>
              </a:buClr>
              <a:buSzPct val="100000"/>
              <a:buFont typeface="Wingdings" panose="05000000000000000000" pitchFamily="2" charset="2"/>
              <a:buChar char="ü"/>
            </a:pPr>
            <a:r>
              <a:rPr lang="en-US" sz="1600" b="1" dirty="0"/>
              <a:t>Active Debris Removal</a:t>
            </a:r>
            <a:r>
              <a:rPr lang="en-US" sz="1600" dirty="0"/>
              <a:t> — external spacecraft remove large debris.</a:t>
            </a:r>
          </a:p>
          <a:p>
            <a:pPr marL="279400" indent="-279400">
              <a:spcAft>
                <a:spcPts val="1000"/>
              </a:spcAft>
              <a:buClr>
                <a:schemeClr val="accent1"/>
              </a:buClr>
              <a:buSzPct val="100000"/>
              <a:buChar char="•"/>
            </a:pPr>
            <a:r>
              <a:rPr lang="en-US" sz="1600" dirty="0">
                <a:solidFill>
                  <a:schemeClr val="tx1"/>
                </a:solidFill>
              </a:rPr>
              <a:t>Limitations of each:</a:t>
            </a:r>
          </a:p>
          <a:p>
            <a:pPr marL="742950" lvl="1" indent="-285750">
              <a:spcAft>
                <a:spcPts val="1000"/>
              </a:spcAft>
              <a:buClr>
                <a:schemeClr val="accent1"/>
              </a:buClr>
              <a:buSzPct val="100000"/>
              <a:buFont typeface="Wingdings" panose="05000000000000000000" pitchFamily="2" charset="2"/>
              <a:buChar char="ü"/>
            </a:pPr>
            <a:r>
              <a:rPr lang="en-US" sz="1600" dirty="0"/>
              <a:t>Limitations include the requirement of additional fuel or hardware, increasing the satellite's mass and overall mission cost. These methods are not suitable for every orbit or satellite, while active debris removal is complex and expensive. Failed or unresponsive satellites are difficult to manage and safely remove from orbit.</a:t>
            </a:r>
          </a:p>
          <a:p>
            <a:pPr marL="279400" indent="-279400">
              <a:spcAft>
                <a:spcPts val="1000"/>
              </a:spcAft>
              <a:buClr>
                <a:schemeClr val="accent1"/>
              </a:buClr>
              <a:buSzPct val="100000"/>
              <a:buChar char="•"/>
            </a:pPr>
            <a:r>
              <a:rPr lang="en-US" sz="1600" dirty="0">
                <a:solidFill>
                  <a:schemeClr val="tx1"/>
                </a:solidFill>
              </a:rPr>
              <a:t>The gap they leave open (Key Challenges):</a:t>
            </a:r>
          </a:p>
          <a:p>
            <a:pPr marL="742950" lvl="1" indent="-285750">
              <a:spcAft>
                <a:spcPts val="1000"/>
              </a:spcAft>
              <a:buClr>
                <a:schemeClr val="accent1"/>
              </a:buClr>
              <a:buSzPct val="100000"/>
              <a:buFont typeface="Wingdings" panose="05000000000000000000" pitchFamily="2" charset="2"/>
              <a:buChar char="ü"/>
            </a:pPr>
            <a:r>
              <a:rPr lang="en-US" sz="1600" dirty="0"/>
              <a:t>Existing methods are piecemeal, expensive, and not universally enforced. Small debris and legacy junk remain unaddressed. No scalable, cooperative global framework exists.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914400" y="2299842"/>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Hardware Requirements:</a:t>
            </a:r>
          </a:p>
          <a:p>
            <a:pPr marL="742950" lvl="1" indent="-285750">
              <a:spcAft>
                <a:spcPts val="1000"/>
              </a:spcAft>
              <a:buClr>
                <a:schemeClr val="accent1"/>
              </a:buClr>
              <a:buSzPct val="100000"/>
              <a:buFont typeface="Wingdings" panose="05000000000000000000" pitchFamily="2" charset="2"/>
              <a:buChar char="ü"/>
            </a:pPr>
            <a:r>
              <a:rPr lang="en-US" sz="1600" dirty="0"/>
              <a:t>A compact retirement module equipped with basic sensors, a communication unit, and a deployable drag device or deorbit mechanism to support safe satellite disposal at the end of its mission.</a:t>
            </a:r>
          </a:p>
          <a:p>
            <a:pPr marL="279400" indent="-279400">
              <a:spcAft>
                <a:spcPts val="1000"/>
              </a:spcAft>
              <a:buClr>
                <a:schemeClr val="accent1"/>
              </a:buClr>
              <a:buSzPct val="100000"/>
              <a:buChar char="•"/>
            </a:pPr>
            <a:r>
              <a:rPr lang="en-US" sz="1600" dirty="0">
                <a:solidFill>
                  <a:schemeClr val="tx1"/>
                </a:solidFill>
              </a:rPr>
              <a:t>Software Requirements:</a:t>
            </a:r>
          </a:p>
          <a:p>
            <a:pPr marL="742950" lvl="1" indent="-285750">
              <a:spcAft>
                <a:spcPts val="1000"/>
              </a:spcAft>
              <a:buClr>
                <a:schemeClr val="accent1"/>
              </a:buClr>
              <a:buSzPct val="100000"/>
              <a:buFont typeface="Wingdings" panose="05000000000000000000" pitchFamily="2" charset="2"/>
              <a:buChar char="ü"/>
            </a:pPr>
            <a:r>
              <a:rPr lang="en-US" sz="1600" dirty="0"/>
              <a:t>Orbit prediction and simulation software to estimate orbital decay, assess collision risks, and identify suitable retirement strategies. A monitoring dashboard can help operators track satellite status and disposal progress.</a:t>
            </a:r>
          </a:p>
          <a:p>
            <a:pPr marL="279400" indent="-279400">
              <a:spcAft>
                <a:spcPts val="1000"/>
              </a:spcAft>
              <a:buClr>
                <a:schemeClr val="accent1"/>
              </a:buClr>
              <a:buSzPct val="100000"/>
              <a:buChar char="•"/>
            </a:pPr>
            <a:r>
              <a:rPr lang="en-US" sz="1600" dirty="0">
                <a:solidFill>
                  <a:schemeClr val="tx1"/>
                </a:solidFill>
              </a:rPr>
              <a:t>Other resources (Including Human Resources):</a:t>
            </a:r>
          </a:p>
          <a:p>
            <a:pPr marL="742950" lvl="1" indent="-285750">
              <a:spcAft>
                <a:spcPts val="1000"/>
              </a:spcAft>
              <a:buClr>
                <a:schemeClr val="accent1"/>
              </a:buClr>
              <a:buSzPct val="100000"/>
              <a:buFont typeface="Wingdings" panose="05000000000000000000" pitchFamily="2" charset="2"/>
              <a:buChar char="ü"/>
            </a:pPr>
            <a:r>
              <a:rPr lang="en-US" sz="1600" dirty="0"/>
              <a:t>The project requires a team with knowledge of aerospace engineering, orbital mechanics, embedded systems, and software development, along with simulation tools, technical guidance, and relevant space-debris mitigation standards.</a:t>
            </a:r>
          </a:p>
          <a:p>
            <a:pPr lvl="1">
              <a:spcAft>
                <a:spcPts val="1000"/>
              </a:spcAft>
              <a:buClr>
                <a:schemeClr val="accent1"/>
              </a:buClr>
              <a:buSzPct val="100000"/>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The Fantastic Four</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What your team intends to do:</a:t>
            </a:r>
          </a:p>
          <a:p>
            <a:pPr marL="742950" lvl="1" indent="-285750">
              <a:spcAft>
                <a:spcPts val="1000"/>
              </a:spcAft>
              <a:buClr>
                <a:schemeClr val="accent1"/>
              </a:buClr>
              <a:buSzPct val="100000"/>
              <a:buFont typeface="Wingdings" panose="05000000000000000000" pitchFamily="2" charset="2"/>
              <a:buChar char="ü"/>
            </a:pPr>
            <a:r>
              <a:rPr lang="en-US" sz="1600" dirty="0"/>
              <a:t>Develop a </a:t>
            </a:r>
            <a:r>
              <a:rPr lang="en-US" sz="1600" b="1" dirty="0"/>
              <a:t>modular satellite retirement system</a:t>
            </a:r>
            <a:r>
              <a:rPr lang="en-US" sz="1600" dirty="0"/>
              <a:t> that plans and assists safe end-of-life disposal with minimal additional mission complexity.</a:t>
            </a:r>
          </a:p>
          <a:p>
            <a:pPr marL="279400" indent="-279400">
              <a:spcAft>
                <a:spcPts val="1000"/>
              </a:spcAft>
              <a:buClr>
                <a:schemeClr val="accent1"/>
              </a:buClr>
              <a:buSzPct val="100000"/>
              <a:buChar char="•"/>
            </a:pPr>
            <a:r>
              <a:rPr lang="en-US" sz="1600" dirty="0">
                <a:solidFill>
                  <a:schemeClr val="tx1"/>
                </a:solidFill>
              </a:rPr>
              <a:t>What you want to improve:</a:t>
            </a:r>
          </a:p>
          <a:p>
            <a:pPr marL="742950" lvl="1" indent="-285750">
              <a:spcAft>
                <a:spcPts val="1000"/>
              </a:spcAft>
              <a:buClr>
                <a:schemeClr val="accent1"/>
              </a:buClr>
              <a:buSzPct val="100000"/>
              <a:buFont typeface="Wingdings" panose="05000000000000000000" pitchFamily="2" charset="2"/>
              <a:buChar char="ü"/>
            </a:pPr>
            <a:r>
              <a:rPr lang="en-IN" sz="1600" dirty="0"/>
              <a:t>Reduce uncontrolled satellite abandonment</a:t>
            </a:r>
            <a:endParaRPr lang="en-US" sz="1600" dirty="0"/>
          </a:p>
          <a:p>
            <a:pPr marL="742950" lvl="1" indent="-285750">
              <a:spcAft>
                <a:spcPts val="1000"/>
              </a:spcAft>
              <a:buClr>
                <a:schemeClr val="accent1"/>
              </a:buClr>
              <a:buSzPct val="100000"/>
              <a:buFont typeface="Wingdings" panose="05000000000000000000" pitchFamily="2" charset="2"/>
              <a:buChar char="ü"/>
            </a:pPr>
            <a:r>
              <a:rPr lang="en-US" sz="1600" dirty="0"/>
              <a:t>Make retirement more predictable and affordable</a:t>
            </a:r>
          </a:p>
          <a:p>
            <a:pPr marL="742950" lvl="1" indent="-285750">
              <a:spcAft>
                <a:spcPts val="1000"/>
              </a:spcAft>
              <a:buClr>
                <a:schemeClr val="accent1"/>
              </a:buClr>
              <a:buSzPct val="100000"/>
              <a:buFont typeface="Wingdings" panose="05000000000000000000" pitchFamily="2" charset="2"/>
              <a:buChar char="ü"/>
            </a:pPr>
            <a:r>
              <a:rPr lang="en-US" sz="1600" dirty="0"/>
              <a:t>Adapt disposal strategies to different orbital conditions</a:t>
            </a:r>
          </a:p>
          <a:p>
            <a:pPr marL="742950" lvl="1" indent="-285750">
              <a:spcAft>
                <a:spcPts val="1000"/>
              </a:spcAft>
              <a:buClr>
                <a:schemeClr val="accent1"/>
              </a:buClr>
              <a:buSzPct val="100000"/>
              <a:buFont typeface="Wingdings" panose="05000000000000000000" pitchFamily="2" charset="2"/>
              <a:buChar char="ü"/>
            </a:pPr>
            <a:r>
              <a:rPr lang="en-IN" sz="1600" dirty="0"/>
              <a:t>Support responsible management of large constellations</a:t>
            </a:r>
            <a:endParaRPr lang="en-US" sz="1600" dirty="0"/>
          </a:p>
          <a:p>
            <a:pPr marL="279400" indent="-279400">
              <a:spcAft>
                <a:spcPts val="1000"/>
              </a:spcAft>
              <a:buClr>
                <a:schemeClr val="accent1"/>
              </a:buClr>
              <a:buSzPct val="100000"/>
              <a:buChar char="•"/>
            </a:pPr>
            <a:r>
              <a:rPr lang="en-US" sz="1600" dirty="0">
                <a:solidFill>
                  <a:schemeClr val="tx1"/>
                </a:solidFill>
              </a:rPr>
              <a:t>What successful improvement should you achieve:</a:t>
            </a:r>
          </a:p>
          <a:p>
            <a:pPr marL="742950" lvl="1" indent="-285750">
              <a:spcAft>
                <a:spcPts val="1000"/>
              </a:spcAft>
              <a:buClr>
                <a:schemeClr val="accent1"/>
              </a:buClr>
              <a:buSzPct val="100000"/>
              <a:buFont typeface="Wingdings" panose="05000000000000000000" pitchFamily="2" charset="2"/>
              <a:buChar char="ü"/>
            </a:pPr>
            <a:r>
              <a:rPr lang="en-US" sz="1600" dirty="0"/>
              <a:t>A scalable “retirement-as-a-system” concept that helps satellites safely leave operational orbits, reducing long-term debris and collision risk.</a:t>
            </a:r>
          </a:p>
          <a:p>
            <a:pPr marL="285750" indent="-285750">
              <a:spcAft>
                <a:spcPts val="1000"/>
              </a:spcAft>
              <a:buClr>
                <a:schemeClr val="accent1"/>
              </a:buClr>
              <a:buSzPct val="100000"/>
              <a:buFont typeface="Wingdings" panose="05000000000000000000" pitchFamily="2" charset="2"/>
              <a:buChar char="v"/>
            </a:pPr>
            <a:r>
              <a:rPr lang="en-US" sz="1600" dirty="0"/>
              <a:t>One-line-vision: “Every satellite launched should have a responsible way home.”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1209</Words>
  <Application>Microsoft Office PowerPoint</Application>
  <PresentationFormat>Widescreen</PresentationFormat>
  <Paragraphs>107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Wingdings</vt:lpstr>
      <vt:lpstr>Genesis Ideathon</vt:lpstr>
      <vt:lpstr>PowerPoint Presentation</vt:lpstr>
      <vt:lpstr>DOMAIN PROBLEM IN YOUR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Dushyant Ravi</cp:lastModifiedBy>
  <cp:revision>2</cp:revision>
  <dcterms:created xsi:type="dcterms:W3CDTF">2026-10-07T15:27:40Z</dcterms:created>
  <dcterms:modified xsi:type="dcterms:W3CDTF">2026-10-09T17:12:11Z</dcterms:modified>
</cp:coreProperties>
</file>